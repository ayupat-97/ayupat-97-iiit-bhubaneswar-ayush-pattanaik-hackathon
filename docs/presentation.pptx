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1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embeddedFontLst>
    <p:embeddedFont>
      <p:font typeface="Exo" panose="020B0604020202020204" charset="0"/>
      <p:regular r:id="rId10"/>
      <p:bold r:id="rId11"/>
      <p:italic r:id="rId12"/>
      <p:boldItalic r:id="rId13"/>
    </p:embeddedFont>
    <p:embeddedFont>
      <p:font typeface="Exo SemiBold" panose="020B0604020202020204" charset="0"/>
      <p:regular r:id="rId14"/>
      <p:bold r:id="rId15"/>
      <p:italic r:id="rId16"/>
      <p:boldItalic r:id="rId17"/>
    </p:embeddedFont>
    <p:embeddedFont>
      <p:font typeface="Fira Mono" panose="020B0509050000020004" pitchFamily="49" charset="0"/>
      <p:regular r:id="rId18"/>
      <p:bold r:id="rId19"/>
    </p:embeddedFont>
    <p:embeddedFont>
      <p:font typeface="Fira Mono Medium" panose="020B0609050000020004" pitchFamily="49" charset="0"/>
      <p:regular r:id="rId20"/>
      <p:bold r:id="rId21"/>
    </p:embeddedFont>
    <p:embeddedFont>
      <p:font typeface="Michroma" panose="020B0604020202020204" charset="0"/>
      <p:regular r:id="rId22"/>
    </p:embeddedFont>
    <p:embeddedFont>
      <p:font typeface="Oswald" panose="00000500000000000000" pitchFamily="2" charset="0"/>
      <p:regular r:id="rId23"/>
      <p:bold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73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font" Target="fonts/font15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font" Target="fonts/font14.fntdata"/><Relationship Id="rId28" Type="http://schemas.openxmlformats.org/officeDocument/2006/relationships/tableStyles" Target="tableStyle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font" Target="fonts/font13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" name="Google Shape;1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presentation is for the project made by Ayush Pattanaik (IIIT Bhubaneswar) for phase 3 of S&amp;P Global &amp; Crisil Hackathon 2026.</a:t>
            </a:r>
            <a:endParaRPr/>
          </a:p>
        </p:txBody>
      </p:sp>
      <p:sp>
        <p:nvSpPr>
          <p:cNvPr id="20" name="Google Shape;2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" name="Google Shape;3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8" name="Google Shape;11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" name="Google Shape;14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1" name="Google Shape;161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hyperlink" Target="https://gamma.app/?utm_source=made-with-gamma" TargetMode="Externa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master 1">
  <p:cSld name="Slide master 1">
    <p:bg>
      <p:bgPr>
        <a:solidFill>
          <a:srgbClr val="050505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2" descr="preencoded.png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master 2">
  <p:cSld name="Slide master 2">
    <p:bg>
      <p:bgPr>
        <a:solidFill>
          <a:srgbClr val="050505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291405" y="523875"/>
            <a:ext cx="5515049" cy="931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7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550"/>
              <a:buFont typeface="Oswald"/>
              <a:buNone/>
            </a:pPr>
            <a:r>
              <a:rPr lang="en-US" sz="3550" b="1" i="0" u="none" strike="noStrike" cap="non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REAL-TIME NLP</a:t>
            </a:r>
            <a:endParaRPr sz="3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7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550"/>
              <a:buFont typeface="Oswald"/>
              <a:buNone/>
            </a:pPr>
            <a:r>
              <a:rPr lang="en-US" sz="3550" b="1" i="0" u="none" strike="noStrike" cap="non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RISK ENGINE</a:t>
            </a:r>
            <a:endParaRPr sz="3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5"/>
          <p:cNvSpPr/>
          <p:nvPr/>
        </p:nvSpPr>
        <p:spPr>
          <a:xfrm>
            <a:off x="291405" y="1602581"/>
            <a:ext cx="5972249" cy="202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Exo"/>
              <a:buNone/>
            </a:pPr>
            <a:r>
              <a:rPr lang="en-US" sz="1150" b="0" i="0" u="none" strike="noStrike" cap="none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By : Ayush Pattanaik (IIIT Bhubaneswar)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5"/>
          <p:cNvSpPr/>
          <p:nvPr/>
        </p:nvSpPr>
        <p:spPr>
          <a:xfrm>
            <a:off x="291405" y="1973312"/>
            <a:ext cx="1378744" cy="23738"/>
          </a:xfrm>
          <a:prstGeom prst="roundRect">
            <a:avLst>
              <a:gd name="adj" fmla="val 50000"/>
            </a:avLst>
          </a:prstGeom>
          <a:solidFill>
            <a:srgbClr val="9BE1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5"/>
          <p:cNvSpPr/>
          <p:nvPr/>
        </p:nvSpPr>
        <p:spPr>
          <a:xfrm>
            <a:off x="273360" y="2214040"/>
            <a:ext cx="5515049" cy="477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Exo"/>
              <a:buNone/>
            </a:pPr>
            <a:r>
              <a:rPr lang="en-US" sz="1400" b="0" i="0" u="none" strike="noStrike" cap="none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Turning real-time financial news and social media chatter into automated portfolio decisions.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5"/>
          <p:cNvSpPr/>
          <p:nvPr/>
        </p:nvSpPr>
        <p:spPr>
          <a:xfrm>
            <a:off x="273360" y="2976452"/>
            <a:ext cx="5515049" cy="68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lang="en-US" sz="1200" b="0" i="0" u="none" strike="noStrike" cap="none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An </a:t>
            </a:r>
            <a:r>
              <a:rPr lang="en-US" sz="1200" b="0" i="1" u="none" strike="noStrike" cap="none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AI pipeline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 that  :</a:t>
            </a:r>
          </a:p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endParaRPr lang="en-US" sz="1000" b="0" i="0" u="none" strike="noStrike" cap="none" dirty="0">
              <a:solidFill>
                <a:srgbClr val="FFFFFF"/>
              </a:solidFill>
              <a:latin typeface="Exo"/>
              <a:ea typeface="Exo"/>
              <a:cs typeface="Exo"/>
              <a:sym typeface="Exo"/>
            </a:endParaRPr>
          </a:p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lang="en-US" sz="1000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R</a:t>
            </a:r>
            <a:r>
              <a:rPr lang="en-US" sz="1000" b="0" i="0" u="none" strike="noStrike" cap="none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eads </a:t>
            </a:r>
            <a:r>
              <a:rPr lang="en-US" sz="1000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news articles and social</a:t>
            </a:r>
            <a:r>
              <a:rPr lang="en-US" sz="1000" b="0" i="0" u="none" strike="noStrike" cap="none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 texts, </a:t>
            </a:r>
          </a:p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lang="en-US" sz="1000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E</a:t>
            </a:r>
            <a:r>
              <a:rPr lang="en-US" sz="1000" b="0" i="0" u="none" strike="noStrike" cap="none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xtracts impacted tickers, </a:t>
            </a:r>
          </a:p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lang="en-US" sz="1000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S</a:t>
            </a:r>
            <a:r>
              <a:rPr lang="en-US" sz="1000" b="0" i="0" u="none" strike="noStrike" cap="none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cores sentiment through an ensemble</a:t>
            </a:r>
            <a:r>
              <a:rPr lang="en-US" sz="1000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  and</a:t>
            </a:r>
            <a:endParaRPr lang="en-US" sz="1000" b="0" i="0" u="none" strike="noStrike" cap="none" dirty="0">
              <a:solidFill>
                <a:srgbClr val="FFFFFF"/>
              </a:solidFill>
              <a:latin typeface="Exo"/>
              <a:ea typeface="Exo"/>
              <a:cs typeface="Exo"/>
              <a:sym typeface="Exo"/>
            </a:endParaRPr>
          </a:p>
          <a:p>
            <a:pPr lvl="0">
              <a:lnSpc>
                <a:spcPct val="118000"/>
              </a:lnSpc>
              <a:buClr>
                <a:srgbClr val="FFFFFF"/>
              </a:buClr>
              <a:buSzPts val="1000"/>
            </a:pPr>
            <a:r>
              <a:rPr lang="en-US" sz="1000" b="0" i="0" u="none" strike="noStrike" cap="none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Dynamically rebalances a </a:t>
            </a:r>
            <a:r>
              <a:rPr lang="en-US" sz="1000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universe  of </a:t>
            </a:r>
            <a:r>
              <a:rPr lang="en-US" sz="1000" b="0" i="0" u="none" strike="noStrike" cap="none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15 US blue-chip stocks,</a:t>
            </a:r>
          </a:p>
          <a:p>
            <a:pPr lvl="0">
              <a:lnSpc>
                <a:spcPct val="118000"/>
              </a:lnSpc>
              <a:buClr>
                <a:srgbClr val="FFFFFF"/>
              </a:buClr>
              <a:buSzPts val="1000"/>
            </a:pPr>
            <a:r>
              <a:rPr lang="en-US" sz="1000" b="0" i="0" u="none" strike="noStrike" cap="none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 </a:t>
            </a:r>
          </a:p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lang="en-US" sz="1200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A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ll within</a:t>
            </a:r>
            <a:r>
              <a:rPr lang="en-US" sz="1200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 few minutes</a:t>
            </a:r>
            <a:r>
              <a:rPr lang="en-US" sz="1000" dirty="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.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5"/>
          <p:cNvSpPr/>
          <p:nvPr/>
        </p:nvSpPr>
        <p:spPr>
          <a:xfrm>
            <a:off x="273360" y="3994249"/>
            <a:ext cx="2022128" cy="136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Fira Mono Medium"/>
              <a:buNone/>
            </a:pPr>
            <a:endParaRPr sz="8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5"/>
          <p:cNvSpPr/>
          <p:nvPr/>
        </p:nvSpPr>
        <p:spPr>
          <a:xfrm>
            <a:off x="3030884" y="4879775"/>
            <a:ext cx="3635553" cy="136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lang="en-US" sz="800" b="0" i="0" u="none" strike="noStrike" cap="none" dirty="0">
                <a:solidFill>
                  <a:srgbClr val="FFFFFF"/>
                </a:solidFill>
                <a:latin typeface="Courier New" panose="02070309020205020404" pitchFamily="49" charset="0"/>
                <a:ea typeface="Exo"/>
                <a:cs typeface="Courier New" panose="02070309020205020404" pitchFamily="49" charset="0"/>
                <a:sym typeface="Exo"/>
              </a:rPr>
              <a:t>S&amp;P Global and Crisil Hackathon 2026 , Phase 3 submission</a:t>
            </a:r>
            <a:endParaRPr sz="800" b="0" i="0" u="none" strike="noStrike" cap="none" dirty="0">
              <a:solidFill>
                <a:schemeClr val="dk1"/>
              </a:solidFill>
              <a:latin typeface="Courier New" panose="02070309020205020404" pitchFamily="49" charset="0"/>
              <a:ea typeface="Calibri"/>
              <a:cs typeface="Courier New" panose="02070309020205020404" pitchFamily="49" charset="0"/>
              <a:sym typeface="Calibri"/>
            </a:endParaRPr>
          </a:p>
        </p:txBody>
      </p:sp>
      <p:sp>
        <p:nvSpPr>
          <p:cNvPr id="30" name="Google Shape;30;p5"/>
          <p:cNvSpPr/>
          <p:nvPr/>
        </p:nvSpPr>
        <p:spPr>
          <a:xfrm>
            <a:off x="2465933" y="4241378"/>
            <a:ext cx="1685999" cy="182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5"/>
          <p:cNvSpPr/>
          <p:nvPr/>
        </p:nvSpPr>
        <p:spPr>
          <a:xfrm>
            <a:off x="4304333" y="4019476"/>
            <a:ext cx="1502122" cy="136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Fira Mono Medium"/>
              <a:buNone/>
            </a:pPr>
            <a:endParaRPr sz="8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5"/>
          <p:cNvSpPr/>
          <p:nvPr/>
        </p:nvSpPr>
        <p:spPr>
          <a:xfrm>
            <a:off x="4304333" y="4241378"/>
            <a:ext cx="1502122" cy="182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5"/>
          <p:cNvSpPr txBox="1"/>
          <p:nvPr/>
        </p:nvSpPr>
        <p:spPr>
          <a:xfrm>
            <a:off x="8034100" y="4677575"/>
            <a:ext cx="1077600" cy="404400"/>
          </a:xfrm>
          <a:prstGeom prst="rect">
            <a:avLst/>
          </a:prstGeom>
          <a:solidFill>
            <a:srgbClr val="000205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457200" y="457200"/>
            <a:ext cx="8686800" cy="136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B5B5B5"/>
              </a:buClr>
              <a:buSzPts val="850"/>
              <a:buFont typeface="Fira Mono Medium"/>
              <a:buNone/>
            </a:pPr>
            <a:r>
              <a:rPr lang="en-US" sz="850" b="0" i="0" u="none" strike="noStrike" cap="none">
                <a:solidFill>
                  <a:srgbClr val="B5B5B5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THE PROBLEM SPACE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6"/>
          <p:cNvSpPr/>
          <p:nvPr/>
        </p:nvSpPr>
        <p:spPr>
          <a:xfrm>
            <a:off x="457200" y="652909"/>
            <a:ext cx="8229600" cy="356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>
                <a:srgbClr val="ECECEC"/>
              </a:buClr>
              <a:buSzPts val="2550"/>
              <a:buFont typeface="Exo SemiBold"/>
              <a:buNone/>
            </a:pPr>
            <a:r>
              <a:rPr lang="en-US" sz="2550" b="0" i="0" u="none" strike="noStrike" cap="none">
                <a:solidFill>
                  <a:srgbClr val="ECECEC"/>
                </a:solidFill>
                <a:latin typeface="Exo SemiBold"/>
                <a:ea typeface="Exo SemiBold"/>
                <a:cs typeface="Exo SemiBold"/>
                <a:sym typeface="Exo SemiBold"/>
              </a:rPr>
              <a:t>Financial text is messy, nuanced, and full of noise</a:t>
            </a:r>
            <a:endParaRPr sz="2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6"/>
          <p:cNvSpPr/>
          <p:nvPr/>
        </p:nvSpPr>
        <p:spPr>
          <a:xfrm>
            <a:off x="457200" y="1191741"/>
            <a:ext cx="2057400" cy="23738"/>
          </a:xfrm>
          <a:prstGeom prst="roundRect">
            <a:avLst>
              <a:gd name="adj" fmla="val 50000"/>
            </a:avLst>
          </a:prstGeom>
          <a:solidFill>
            <a:srgbClr val="9BE1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6"/>
          <p:cNvSpPr/>
          <p:nvPr/>
        </p:nvSpPr>
        <p:spPr>
          <a:xfrm>
            <a:off x="457200" y="1383432"/>
            <a:ext cx="8686800" cy="243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350"/>
              <a:buFont typeface="Exo"/>
              <a:buNone/>
            </a:pPr>
            <a:r>
              <a:rPr lang="en-US" sz="135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Three structural hurdles break standard NLP systems before they reach production.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6"/>
          <p:cNvSpPr/>
          <p:nvPr/>
        </p:nvSpPr>
        <p:spPr>
          <a:xfrm>
            <a:off x="457200" y="1760190"/>
            <a:ext cx="2590800" cy="2926110"/>
          </a:xfrm>
          <a:prstGeom prst="rect">
            <a:avLst/>
          </a:prstGeom>
          <a:solidFill>
            <a:srgbClr val="0E1F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6"/>
          <p:cNvSpPr/>
          <p:nvPr/>
        </p:nvSpPr>
        <p:spPr>
          <a:xfrm>
            <a:off x="685800" y="2026890"/>
            <a:ext cx="2133600" cy="3043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7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2350"/>
              <a:buFont typeface="Oswald"/>
              <a:buNone/>
            </a:pPr>
            <a:r>
              <a:rPr lang="en-US" sz="2350" b="1" i="0" u="none" strike="noStrike" cap="none">
                <a:solidFill>
                  <a:srgbClr val="D5D5D5"/>
                </a:solidFill>
                <a:latin typeface="Oswald"/>
                <a:ea typeface="Oswald"/>
                <a:cs typeface="Oswald"/>
                <a:sym typeface="Oswald"/>
              </a:rPr>
              <a:t>01</a:t>
            </a:r>
            <a:endParaRPr sz="2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6"/>
          <p:cNvSpPr/>
          <p:nvPr/>
        </p:nvSpPr>
        <p:spPr>
          <a:xfrm>
            <a:off x="685800" y="2478881"/>
            <a:ext cx="2133600" cy="382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900"/>
              <a:buFont typeface="Michroma"/>
              <a:buNone/>
            </a:pPr>
            <a:r>
              <a:rPr lang="en-US" sz="900" b="0" i="0" u="none" strike="noStrike" cap="none">
                <a:solidFill>
                  <a:srgbClr val="D5D5D5"/>
                </a:solidFill>
                <a:latin typeface="Michroma"/>
                <a:ea typeface="Michroma"/>
                <a:cs typeface="Michroma"/>
                <a:sym typeface="Michroma"/>
              </a:rPr>
              <a:t>HIGH NOISE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8000"/>
              </a:lnSpc>
              <a:spcBef>
                <a:spcPts val="650"/>
              </a:spcBef>
              <a:spcAft>
                <a:spcPts val="0"/>
              </a:spcAft>
              <a:buClr>
                <a:srgbClr val="D5D5D5"/>
              </a:buClr>
              <a:buSzPts val="900"/>
              <a:buFont typeface="Michroma"/>
              <a:buNone/>
            </a:pPr>
            <a:r>
              <a:rPr lang="en-US" sz="900" b="0" i="0" u="none" strike="noStrike" cap="none">
                <a:solidFill>
                  <a:srgbClr val="D5D5D5"/>
                </a:solidFill>
                <a:latin typeface="Michroma"/>
                <a:ea typeface="Michroma"/>
                <a:cs typeface="Michroma"/>
                <a:sym typeface="Michroma"/>
              </a:rPr>
              <a:t>FLOOR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6"/>
          <p:cNvSpPr/>
          <p:nvPr/>
        </p:nvSpPr>
        <p:spPr>
          <a:xfrm>
            <a:off x="685800" y="2981920"/>
            <a:ext cx="266626" cy="23738"/>
          </a:xfrm>
          <a:prstGeom prst="roundRect">
            <a:avLst>
              <a:gd name="adj" fmla="val 50000"/>
            </a:avLst>
          </a:prstGeom>
          <a:solidFill>
            <a:srgbClr val="9BE1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6"/>
          <p:cNvSpPr/>
          <p:nvPr/>
        </p:nvSpPr>
        <p:spPr>
          <a:xfrm>
            <a:off x="685800" y="3125986"/>
            <a:ext cx="2133600" cy="730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000"/>
              <a:buFont typeface="Exo"/>
              <a:buNone/>
            </a:pPr>
            <a:r>
              <a:rPr lang="en-US" sz="100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Raw financial web crawls return celebrity gossip, clickbait, and unrelated PR spam that dilute genuine market fundamentals.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/>
          <p:nvPr/>
        </p:nvSpPr>
        <p:spPr>
          <a:xfrm>
            <a:off x="685800" y="4283422"/>
            <a:ext cx="2362200" cy="136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850"/>
              <a:buFont typeface="Fira Mono Medium"/>
              <a:buNone/>
            </a:pPr>
            <a:r>
              <a:rPr lang="en-US" sz="850" b="0" i="0" u="none" strike="noStrike" cap="none">
                <a:solidFill>
                  <a:srgbClr val="D5D5D5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IMPACT ON : DATA INGESTION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6"/>
          <p:cNvSpPr/>
          <p:nvPr/>
        </p:nvSpPr>
        <p:spPr>
          <a:xfrm>
            <a:off x="3276600" y="1760190"/>
            <a:ext cx="2590800" cy="2926110"/>
          </a:xfrm>
          <a:prstGeom prst="rect">
            <a:avLst/>
          </a:prstGeom>
          <a:solidFill>
            <a:srgbClr val="0730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6"/>
          <p:cNvSpPr/>
          <p:nvPr/>
        </p:nvSpPr>
        <p:spPr>
          <a:xfrm>
            <a:off x="3505200" y="2026890"/>
            <a:ext cx="2133600" cy="3043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7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50"/>
              <a:buFont typeface="Oswald"/>
              <a:buNone/>
            </a:pPr>
            <a:r>
              <a:rPr lang="en-US" sz="2350" b="1" i="0" u="none" strike="noStrike" cap="non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02</a:t>
            </a:r>
            <a:endParaRPr sz="2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6"/>
          <p:cNvSpPr/>
          <p:nvPr/>
        </p:nvSpPr>
        <p:spPr>
          <a:xfrm>
            <a:off x="3505200" y="2478881"/>
            <a:ext cx="2133600" cy="297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ichroma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Michroma"/>
                <a:ea typeface="Michroma"/>
                <a:cs typeface="Michroma"/>
                <a:sym typeface="Michroma"/>
              </a:rPr>
              <a:t>CONTEXTUAL NUANCE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6"/>
          <p:cNvSpPr/>
          <p:nvPr/>
        </p:nvSpPr>
        <p:spPr>
          <a:xfrm>
            <a:off x="3505200" y="2896195"/>
            <a:ext cx="266626" cy="23738"/>
          </a:xfrm>
          <a:prstGeom prst="roundRect">
            <a:avLst>
              <a:gd name="adj" fmla="val 50000"/>
            </a:avLst>
          </a:prstGeom>
          <a:solidFill>
            <a:srgbClr val="9BE1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6"/>
          <p:cNvSpPr/>
          <p:nvPr/>
        </p:nvSpPr>
        <p:spPr>
          <a:xfrm>
            <a:off x="3505200" y="3040261"/>
            <a:ext cx="2133600" cy="91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General AI trips on financial phrasing: "Ferrari's chairman is bullish on AI" should not trigger an Nvidia selloff, and "shrugged off recession fears" is not bad news.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6"/>
          <p:cNvSpPr/>
          <p:nvPr/>
        </p:nvSpPr>
        <p:spPr>
          <a:xfrm>
            <a:off x="3505200" y="4283422"/>
            <a:ext cx="2362200" cy="136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Fira Mono Medium"/>
              <a:buNone/>
            </a:pPr>
            <a:r>
              <a:rPr lang="en-US" sz="850" b="0" i="0" u="none" strike="noStrike" cap="none">
                <a:solidFill>
                  <a:srgbClr val="FFFFFF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IMPACT ON : ENTITY EXTRACTION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6"/>
          <p:cNvSpPr/>
          <p:nvPr/>
        </p:nvSpPr>
        <p:spPr>
          <a:xfrm>
            <a:off x="6096000" y="1760190"/>
            <a:ext cx="2590800" cy="2926110"/>
          </a:xfrm>
          <a:prstGeom prst="rect">
            <a:avLst/>
          </a:prstGeom>
          <a:solidFill>
            <a:srgbClr val="241B5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6"/>
          <p:cNvSpPr/>
          <p:nvPr/>
        </p:nvSpPr>
        <p:spPr>
          <a:xfrm>
            <a:off x="6324600" y="2026890"/>
            <a:ext cx="2133600" cy="3043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7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50"/>
              <a:buFont typeface="Oswald"/>
              <a:buNone/>
            </a:pPr>
            <a:r>
              <a:rPr lang="en-US" sz="2350" b="1" i="0" u="none" strike="noStrike" cap="non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03</a:t>
            </a:r>
            <a:endParaRPr sz="2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6"/>
          <p:cNvSpPr/>
          <p:nvPr/>
        </p:nvSpPr>
        <p:spPr>
          <a:xfrm>
            <a:off x="6324600" y="2478881"/>
            <a:ext cx="2133600" cy="297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ichroma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Michroma"/>
                <a:ea typeface="Michroma"/>
                <a:cs typeface="Michroma"/>
                <a:sym typeface="Michroma"/>
              </a:rPr>
              <a:t>SPEED V/S ACCURACY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6"/>
          <p:cNvSpPr/>
          <p:nvPr/>
        </p:nvSpPr>
        <p:spPr>
          <a:xfrm>
            <a:off x="6324600" y="2896195"/>
            <a:ext cx="266626" cy="23738"/>
          </a:xfrm>
          <a:prstGeom prst="roundRect">
            <a:avLst>
              <a:gd name="adj" fmla="val 50000"/>
            </a:avLst>
          </a:prstGeom>
          <a:solidFill>
            <a:srgbClr val="9BE1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6"/>
          <p:cNvSpPr/>
          <p:nvPr/>
        </p:nvSpPr>
        <p:spPr>
          <a:xfrm>
            <a:off x="6324600" y="3040261"/>
            <a:ext cx="2133600" cy="91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Heavy transformer models deliver high precision but grind throughput to a halt if evaluated indiscriminately over every raw incoming feed.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6324600" y="4283422"/>
            <a:ext cx="2362200" cy="136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Fira Mono Medium"/>
              <a:buNone/>
            </a:pPr>
            <a:r>
              <a:rPr lang="en-US" sz="850" b="0" i="0" u="none" strike="noStrike" cap="none">
                <a:solidFill>
                  <a:srgbClr val="FFFFFF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IMPACT ON : INFERENCE LATENCY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8864947" y="4843909"/>
            <a:ext cx="279053" cy="14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9D9D9D"/>
              </a:buClr>
              <a:buSzPts val="800"/>
              <a:buFont typeface="Fira Mono"/>
              <a:buNone/>
            </a:pPr>
            <a:r>
              <a:rPr lang="en-US" sz="800" b="0" i="0" u="none" strike="noStrike" cap="none">
                <a:solidFill>
                  <a:srgbClr val="9D9D9D"/>
                </a:solidFill>
                <a:latin typeface="Fira Mono"/>
                <a:ea typeface="Fira Mono"/>
                <a:cs typeface="Fira Mono"/>
                <a:sym typeface="Fira Mono"/>
              </a:rPr>
              <a:t>02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6"/>
          <p:cNvSpPr txBox="1"/>
          <p:nvPr/>
        </p:nvSpPr>
        <p:spPr>
          <a:xfrm>
            <a:off x="7995900" y="4846425"/>
            <a:ext cx="1094700" cy="251700"/>
          </a:xfrm>
          <a:prstGeom prst="rect">
            <a:avLst/>
          </a:prstGeom>
          <a:solidFill>
            <a:srgbClr val="050505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7"/>
          <p:cNvSpPr/>
          <p:nvPr/>
        </p:nvSpPr>
        <p:spPr>
          <a:xfrm>
            <a:off x="457200" y="457200"/>
            <a:ext cx="8686800" cy="136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B5B5B5"/>
              </a:buClr>
              <a:buSzPts val="850"/>
              <a:buFont typeface="Fira Mono Medium"/>
              <a:buNone/>
            </a:pPr>
            <a:r>
              <a:rPr lang="en-US" sz="850" b="0" i="0" u="none" strike="noStrike" cap="none">
                <a:solidFill>
                  <a:srgbClr val="B5B5B5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ARCHITECTURE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7"/>
          <p:cNvSpPr/>
          <p:nvPr/>
        </p:nvSpPr>
        <p:spPr>
          <a:xfrm>
            <a:off x="457200" y="652909"/>
            <a:ext cx="8229600" cy="356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>
                <a:srgbClr val="ECECEC"/>
              </a:buClr>
              <a:buSzPts val="2550"/>
              <a:buFont typeface="Exo SemiBold"/>
              <a:buNone/>
            </a:pPr>
            <a:r>
              <a:rPr lang="en-US" sz="2550" b="0" i="0" u="none" strike="noStrike" cap="none">
                <a:solidFill>
                  <a:srgbClr val="ECECEC"/>
                </a:solidFill>
                <a:latin typeface="Exo SemiBold"/>
                <a:ea typeface="Exo SemiBold"/>
                <a:cs typeface="Exo SemiBold"/>
                <a:sym typeface="Exo SemiBold"/>
              </a:rPr>
              <a:t>How it works end to end : Four steps</a:t>
            </a:r>
            <a:endParaRPr sz="2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7"/>
          <p:cNvSpPr/>
          <p:nvPr/>
        </p:nvSpPr>
        <p:spPr>
          <a:xfrm>
            <a:off x="457200" y="1209675"/>
            <a:ext cx="602828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9BE1FF"/>
              </a:buClr>
              <a:buSzPts val="1150"/>
              <a:buFont typeface="Exo SemiBold"/>
              <a:buNone/>
            </a:pPr>
            <a:r>
              <a:rPr lang="en-US" sz="1150" b="0" i="0" u="none" strike="noStrike" cap="none">
                <a:solidFill>
                  <a:srgbClr val="9BE1FF"/>
                </a:solidFill>
                <a:latin typeface="Exo SemiBold"/>
                <a:ea typeface="Exo SemiBold"/>
                <a:cs typeface="Exo SemiBold"/>
                <a:sym typeface="Exo SemiBold"/>
              </a:rPr>
              <a:t>01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7"/>
          <p:cNvSpPr/>
          <p:nvPr/>
        </p:nvSpPr>
        <p:spPr>
          <a:xfrm>
            <a:off x="457200" y="1409700"/>
            <a:ext cx="1885950" cy="14288"/>
          </a:xfrm>
          <a:prstGeom prst="rect">
            <a:avLst/>
          </a:prstGeom>
          <a:solidFill>
            <a:srgbClr val="9BE1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7"/>
          <p:cNvSpPr/>
          <p:nvPr/>
        </p:nvSpPr>
        <p:spPr>
          <a:xfrm>
            <a:off x="457200" y="1509713"/>
            <a:ext cx="1885950" cy="297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900"/>
              <a:buFont typeface="Michroma"/>
              <a:buNone/>
            </a:pPr>
            <a:r>
              <a:rPr lang="en-US" sz="900" b="0" i="0" u="none" strike="noStrike" cap="none">
                <a:solidFill>
                  <a:srgbClr val="D5D5D5"/>
                </a:solidFill>
                <a:latin typeface="Michroma"/>
                <a:ea typeface="Michroma"/>
                <a:cs typeface="Michroma"/>
                <a:sym typeface="Michroma"/>
              </a:rPr>
              <a:t>CLEAN DATA INGESTION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7"/>
          <p:cNvSpPr/>
          <p:nvPr/>
        </p:nvSpPr>
        <p:spPr>
          <a:xfrm>
            <a:off x="457200" y="1913930"/>
            <a:ext cx="1885950" cy="1947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200"/>
              <a:buFont typeface="Exo"/>
              <a:buNone/>
            </a:pPr>
            <a:r>
              <a:rPr lang="en-US" sz="120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Live articles from 21 top financial outlets (Bloomberg, Reuters, WSJ, CNBC, FT, Barron's) plus a streaming social feed; anything not mentioning our companies or big macro institutions is dropped.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7"/>
          <p:cNvSpPr/>
          <p:nvPr/>
        </p:nvSpPr>
        <p:spPr>
          <a:xfrm>
            <a:off x="2571750" y="1209675"/>
            <a:ext cx="63423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9BE1FF"/>
              </a:buClr>
              <a:buSzPts val="1150"/>
              <a:buFont typeface="Exo SemiBold"/>
              <a:buNone/>
            </a:pPr>
            <a:r>
              <a:rPr lang="en-US" sz="1150" b="0" i="0" u="none" strike="noStrike" cap="none">
                <a:solidFill>
                  <a:srgbClr val="9BE1FF"/>
                </a:solidFill>
                <a:latin typeface="Exo SemiBold"/>
                <a:ea typeface="Exo SemiBold"/>
                <a:cs typeface="Exo SemiBold"/>
                <a:sym typeface="Exo SemiBold"/>
              </a:rPr>
              <a:t>02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7"/>
          <p:cNvSpPr/>
          <p:nvPr/>
        </p:nvSpPr>
        <p:spPr>
          <a:xfrm>
            <a:off x="2571750" y="1409700"/>
            <a:ext cx="1885950" cy="14288"/>
          </a:xfrm>
          <a:prstGeom prst="rect">
            <a:avLst/>
          </a:prstGeom>
          <a:solidFill>
            <a:srgbClr val="9BE1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7"/>
          <p:cNvSpPr/>
          <p:nvPr/>
        </p:nvSpPr>
        <p:spPr>
          <a:xfrm>
            <a:off x="2571750" y="1509713"/>
            <a:ext cx="1885950" cy="297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900"/>
              <a:buFont typeface="Michroma"/>
              <a:buNone/>
            </a:pPr>
            <a:r>
              <a:rPr lang="en-US" sz="900" b="0" i="0" u="none" strike="noStrike" cap="none">
                <a:solidFill>
                  <a:srgbClr val="D5D5D5"/>
                </a:solidFill>
                <a:latin typeface="Michroma"/>
                <a:ea typeface="Michroma"/>
                <a:cs typeface="Michroma"/>
                <a:sym typeface="Michroma"/>
              </a:rPr>
              <a:t>FINDING THE STOCKS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7"/>
          <p:cNvSpPr/>
          <p:nvPr/>
        </p:nvSpPr>
        <p:spPr>
          <a:xfrm>
            <a:off x="2571750" y="1913930"/>
            <a:ext cx="1885950" cy="1731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200"/>
              <a:buFont typeface="Exo"/>
              <a:buNone/>
            </a:pPr>
            <a:r>
              <a:rPr lang="en-US" sz="120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Cashtags ($AAPL, $NVDA) and company names matched in microseconds; a Sector Knowledge Base links macro news like OPEC oil cuts or Fed rate hikes to the stocks they hurt or help.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7"/>
          <p:cNvSpPr/>
          <p:nvPr/>
        </p:nvSpPr>
        <p:spPr>
          <a:xfrm>
            <a:off x="4686300" y="1209675"/>
            <a:ext cx="633115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9BE1FF"/>
              </a:buClr>
              <a:buSzPts val="1150"/>
              <a:buFont typeface="Exo SemiBold"/>
              <a:buNone/>
            </a:pPr>
            <a:r>
              <a:rPr lang="en-US" sz="1150" b="0" i="0" u="none" strike="noStrike" cap="none">
                <a:solidFill>
                  <a:srgbClr val="9BE1FF"/>
                </a:solidFill>
                <a:latin typeface="Exo SemiBold"/>
                <a:ea typeface="Exo SemiBold"/>
                <a:cs typeface="Exo SemiBold"/>
                <a:sym typeface="Exo SemiBold"/>
              </a:rPr>
              <a:t>03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7"/>
          <p:cNvSpPr/>
          <p:nvPr/>
        </p:nvSpPr>
        <p:spPr>
          <a:xfrm>
            <a:off x="4686300" y="1409700"/>
            <a:ext cx="1885950" cy="14288"/>
          </a:xfrm>
          <a:prstGeom prst="rect">
            <a:avLst/>
          </a:prstGeom>
          <a:solidFill>
            <a:srgbClr val="9BE1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7"/>
          <p:cNvSpPr/>
          <p:nvPr/>
        </p:nvSpPr>
        <p:spPr>
          <a:xfrm>
            <a:off x="4686300" y="1509713"/>
            <a:ext cx="1885950" cy="297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900"/>
              <a:buFont typeface="Michroma"/>
              <a:buNone/>
            </a:pPr>
            <a:r>
              <a:rPr lang="en-US" sz="900" b="0" i="0" u="none" strike="noStrike" cap="none">
                <a:solidFill>
                  <a:srgbClr val="D5D5D5"/>
                </a:solidFill>
                <a:latin typeface="Michroma"/>
                <a:ea typeface="Michroma"/>
                <a:cs typeface="Michroma"/>
                <a:sym typeface="Michroma"/>
              </a:rPr>
              <a:t>UNDERSTANDING SENTIMENT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7"/>
          <p:cNvSpPr/>
          <p:nvPr/>
        </p:nvSpPr>
        <p:spPr>
          <a:xfrm>
            <a:off x="4686300" y="1913930"/>
            <a:ext cx="1885950" cy="1298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200"/>
              <a:buFont typeface="Exo"/>
              <a:buNone/>
            </a:pPr>
            <a:r>
              <a:rPr lang="en-US" sz="120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ProsusAI and FinBERT for formal language + Twitter-RoBERTa and VADER (social slang and emphasis) + BART zero-shot classification.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7"/>
          <p:cNvSpPr/>
          <p:nvPr/>
        </p:nvSpPr>
        <p:spPr>
          <a:xfrm>
            <a:off x="6800850" y="1209675"/>
            <a:ext cx="637282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9BE1FF"/>
              </a:buClr>
              <a:buSzPts val="1150"/>
              <a:buFont typeface="Exo SemiBold"/>
              <a:buNone/>
            </a:pPr>
            <a:r>
              <a:rPr lang="en-US" sz="1150" b="0" i="0" u="none" strike="noStrike" cap="none">
                <a:solidFill>
                  <a:srgbClr val="9BE1FF"/>
                </a:solidFill>
                <a:latin typeface="Exo SemiBold"/>
                <a:ea typeface="Exo SemiBold"/>
                <a:cs typeface="Exo SemiBold"/>
                <a:sym typeface="Exo SemiBold"/>
              </a:rPr>
              <a:t>04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7"/>
          <p:cNvSpPr/>
          <p:nvPr/>
        </p:nvSpPr>
        <p:spPr>
          <a:xfrm>
            <a:off x="6800850" y="1409700"/>
            <a:ext cx="1885950" cy="14288"/>
          </a:xfrm>
          <a:prstGeom prst="rect">
            <a:avLst/>
          </a:prstGeom>
          <a:solidFill>
            <a:srgbClr val="9BE1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7"/>
          <p:cNvSpPr/>
          <p:nvPr/>
        </p:nvSpPr>
        <p:spPr>
          <a:xfrm>
            <a:off x="6800850" y="1509713"/>
            <a:ext cx="1885950" cy="297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900"/>
              <a:buFont typeface="Michroma"/>
              <a:buNone/>
            </a:pPr>
            <a:r>
              <a:rPr lang="en-US" sz="900" b="0" i="0" u="none" strike="noStrike" cap="none">
                <a:solidFill>
                  <a:srgbClr val="D5D5D5"/>
                </a:solidFill>
                <a:latin typeface="Michroma"/>
                <a:ea typeface="Michroma"/>
                <a:cs typeface="Michroma"/>
                <a:sym typeface="Michroma"/>
              </a:rPr>
              <a:t>PORTFOLIO REBALANCER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7"/>
          <p:cNvSpPr/>
          <p:nvPr/>
        </p:nvSpPr>
        <p:spPr>
          <a:xfrm>
            <a:off x="6800850" y="1913930"/>
            <a:ext cx="1885950" cy="865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200"/>
              <a:buFont typeface="Exo"/>
              <a:buNone/>
            </a:pPr>
            <a:r>
              <a:rPr lang="en-US" sz="120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Sentiment and impact severity adjust weights, with a 2% floor, then renormalize to 100%.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7"/>
          <p:cNvSpPr/>
          <p:nvPr/>
        </p:nvSpPr>
        <p:spPr>
          <a:xfrm>
            <a:off x="457200" y="4061594"/>
            <a:ext cx="2057400" cy="624780"/>
          </a:xfrm>
          <a:custGeom>
            <a:avLst/>
            <a:gdLst/>
            <a:ahLst/>
            <a:cxnLst/>
            <a:rect l="l" t="t" r="r" b="b"/>
            <a:pathLst>
              <a:path w="2057400" h="624780" extrusionOk="0">
                <a:moveTo>
                  <a:pt x="7144" y="0"/>
                </a:moveTo>
                <a:lnTo>
                  <a:pt x="2057400" y="0"/>
                </a:lnTo>
                <a:lnTo>
                  <a:pt x="2057400" y="624780"/>
                </a:lnTo>
                <a:lnTo>
                  <a:pt x="7144" y="624780"/>
                </a:lnTo>
                <a:cubicBezTo>
                  <a:pt x="3198" y="624780"/>
                  <a:pt x="0" y="621582"/>
                  <a:pt x="0" y="617636"/>
                </a:cubicBezTo>
                <a:lnTo>
                  <a:pt x="0" y="7144"/>
                </a:lnTo>
                <a:cubicBezTo>
                  <a:pt x="0" y="3198"/>
                  <a:pt x="3198" y="0"/>
                  <a:pt x="7144" y="0"/>
                </a:cubicBezTo>
                <a:close/>
              </a:path>
            </a:pathLst>
          </a:custGeom>
          <a:solidFill>
            <a:srgbClr val="0E1F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7"/>
          <p:cNvSpPr/>
          <p:nvPr/>
        </p:nvSpPr>
        <p:spPr>
          <a:xfrm>
            <a:off x="609600" y="4194944"/>
            <a:ext cx="1752600" cy="358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850"/>
              <a:buFont typeface="Fira Mono Medium"/>
              <a:buNone/>
            </a:pPr>
            <a:r>
              <a:rPr lang="en-US" sz="850" b="0" i="0" u="none" strike="noStrike" cap="none">
                <a:solidFill>
                  <a:srgbClr val="D5D5D5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STAGE 01 · 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8000"/>
              </a:lnSpc>
              <a:spcBef>
                <a:spcPts val="650"/>
              </a:spcBef>
              <a:spcAft>
                <a:spcPts val="0"/>
              </a:spcAft>
              <a:buClr>
                <a:srgbClr val="D5D5D5"/>
              </a:buClr>
              <a:buSzPts val="850"/>
              <a:buFont typeface="Fira Mono Medium"/>
              <a:buNone/>
            </a:pPr>
            <a:r>
              <a:rPr lang="en-US" sz="850" b="0" i="0" u="none" strike="noStrike" cap="none">
                <a:solidFill>
                  <a:srgbClr val="D5D5D5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21 OUTLETS + SOCIAL FEED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7"/>
          <p:cNvSpPr/>
          <p:nvPr/>
        </p:nvSpPr>
        <p:spPr>
          <a:xfrm>
            <a:off x="2514600" y="4061594"/>
            <a:ext cx="2057400" cy="624780"/>
          </a:xfrm>
          <a:prstGeom prst="rect">
            <a:avLst/>
          </a:prstGeom>
          <a:solidFill>
            <a:srgbClr val="0E1F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7"/>
          <p:cNvSpPr/>
          <p:nvPr/>
        </p:nvSpPr>
        <p:spPr>
          <a:xfrm>
            <a:off x="2667000" y="4194944"/>
            <a:ext cx="1752600" cy="358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850"/>
              <a:buFont typeface="Fira Mono Medium"/>
              <a:buNone/>
            </a:pPr>
            <a:r>
              <a:rPr lang="en-US" sz="850" b="0" i="0" u="none" strike="noStrike" cap="none">
                <a:solidFill>
                  <a:srgbClr val="D5D5D5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STAGE 02 · 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8000"/>
              </a:lnSpc>
              <a:spcBef>
                <a:spcPts val="650"/>
              </a:spcBef>
              <a:spcAft>
                <a:spcPts val="0"/>
              </a:spcAft>
              <a:buClr>
                <a:srgbClr val="D5D5D5"/>
              </a:buClr>
              <a:buSzPts val="850"/>
              <a:buFont typeface="Fira Mono Medium"/>
              <a:buNone/>
            </a:pPr>
            <a:r>
              <a:rPr lang="en-US" sz="850" b="0" i="0" u="none" strike="noStrike" cap="none">
                <a:solidFill>
                  <a:srgbClr val="D5D5D5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SECTOR KNOWLEDGE BASE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7"/>
          <p:cNvSpPr/>
          <p:nvPr/>
        </p:nvSpPr>
        <p:spPr>
          <a:xfrm>
            <a:off x="4572000" y="4061594"/>
            <a:ext cx="2057400" cy="624780"/>
          </a:xfrm>
          <a:prstGeom prst="rect">
            <a:avLst/>
          </a:prstGeom>
          <a:solidFill>
            <a:srgbClr val="0E1F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7"/>
          <p:cNvSpPr/>
          <p:nvPr/>
        </p:nvSpPr>
        <p:spPr>
          <a:xfrm>
            <a:off x="4724400" y="4194944"/>
            <a:ext cx="1752600" cy="358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850"/>
              <a:buFont typeface="Fira Mono Medium"/>
              <a:buNone/>
            </a:pPr>
            <a:r>
              <a:rPr lang="en-US" sz="850" b="0" i="0" u="none" strike="noStrike" cap="none">
                <a:solidFill>
                  <a:srgbClr val="D5D5D5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STAGE 03 · 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8000"/>
              </a:lnSpc>
              <a:spcBef>
                <a:spcPts val="650"/>
              </a:spcBef>
              <a:spcAft>
                <a:spcPts val="0"/>
              </a:spcAft>
              <a:buClr>
                <a:srgbClr val="D5D5D5"/>
              </a:buClr>
              <a:buSzPts val="850"/>
              <a:buFont typeface="Fira Mono Medium"/>
              <a:buNone/>
            </a:pPr>
            <a:r>
              <a:rPr lang="en-US" sz="850" b="0" i="0" u="none" strike="noStrike" cap="none">
                <a:solidFill>
                  <a:srgbClr val="D5D5D5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SENTIMENT ENSEMBLE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7"/>
          <p:cNvSpPr/>
          <p:nvPr/>
        </p:nvSpPr>
        <p:spPr>
          <a:xfrm>
            <a:off x="6629400" y="4061594"/>
            <a:ext cx="2057400" cy="624780"/>
          </a:xfrm>
          <a:custGeom>
            <a:avLst/>
            <a:gdLst/>
            <a:ahLst/>
            <a:cxnLst/>
            <a:rect l="l" t="t" r="r" b="b"/>
            <a:pathLst>
              <a:path w="2057400" h="624780" extrusionOk="0">
                <a:moveTo>
                  <a:pt x="0" y="0"/>
                </a:moveTo>
                <a:lnTo>
                  <a:pt x="2050256" y="0"/>
                </a:lnTo>
                <a:cubicBezTo>
                  <a:pt x="2052151" y="0"/>
                  <a:pt x="2053968" y="753"/>
                  <a:pt x="2055308" y="2092"/>
                </a:cubicBezTo>
                <a:cubicBezTo>
                  <a:pt x="2056647" y="3432"/>
                  <a:pt x="2057400" y="5249"/>
                  <a:pt x="2057400" y="7144"/>
                </a:cubicBezTo>
                <a:lnTo>
                  <a:pt x="2057400" y="617637"/>
                </a:lnTo>
                <a:cubicBezTo>
                  <a:pt x="2057400" y="621583"/>
                  <a:pt x="2054202" y="624781"/>
                  <a:pt x="2050256" y="624781"/>
                </a:cubicBezTo>
                <a:lnTo>
                  <a:pt x="0" y="624780"/>
                </a:lnTo>
                <a:lnTo>
                  <a:pt x="0" y="0"/>
                </a:lnTo>
                <a:close/>
              </a:path>
            </a:pathLst>
          </a:custGeom>
          <a:solidFill>
            <a:srgbClr val="0E1F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7"/>
          <p:cNvSpPr/>
          <p:nvPr/>
        </p:nvSpPr>
        <p:spPr>
          <a:xfrm>
            <a:off x="6781800" y="4194944"/>
            <a:ext cx="1752600" cy="358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850"/>
              <a:buFont typeface="Fira Mono Medium"/>
              <a:buNone/>
            </a:pPr>
            <a:r>
              <a:rPr lang="en-US" sz="850" b="0" i="0" u="none" strike="noStrike" cap="none">
                <a:solidFill>
                  <a:srgbClr val="D5D5D5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STAGE 04 · 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8000"/>
              </a:lnSpc>
              <a:spcBef>
                <a:spcPts val="650"/>
              </a:spcBef>
              <a:spcAft>
                <a:spcPts val="0"/>
              </a:spcAft>
              <a:buClr>
                <a:srgbClr val="D5D5D5"/>
              </a:buClr>
              <a:buSzPts val="850"/>
              <a:buFont typeface="Fira Mono Medium"/>
              <a:buNone/>
            </a:pPr>
            <a:r>
              <a:rPr lang="en-US" sz="850" b="0" i="0" u="none" strike="noStrike" cap="none">
                <a:solidFill>
                  <a:srgbClr val="D5D5D5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100% RENORMALIZED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7"/>
          <p:cNvSpPr/>
          <p:nvPr/>
        </p:nvSpPr>
        <p:spPr>
          <a:xfrm>
            <a:off x="2509838" y="4061594"/>
            <a:ext cx="9525" cy="62478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7"/>
          <p:cNvSpPr/>
          <p:nvPr/>
        </p:nvSpPr>
        <p:spPr>
          <a:xfrm>
            <a:off x="4567238" y="4061594"/>
            <a:ext cx="9525" cy="62478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7"/>
          <p:cNvSpPr/>
          <p:nvPr/>
        </p:nvSpPr>
        <p:spPr>
          <a:xfrm>
            <a:off x="6624638" y="4061594"/>
            <a:ext cx="9525" cy="62478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7"/>
          <p:cNvSpPr txBox="1"/>
          <p:nvPr/>
        </p:nvSpPr>
        <p:spPr>
          <a:xfrm>
            <a:off x="7995900" y="4846425"/>
            <a:ext cx="1094700" cy="251700"/>
          </a:xfrm>
          <a:prstGeom prst="rect">
            <a:avLst/>
          </a:prstGeom>
          <a:solidFill>
            <a:srgbClr val="050505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8"/>
          <p:cNvSpPr/>
          <p:nvPr/>
        </p:nvSpPr>
        <p:spPr>
          <a:xfrm>
            <a:off x="457200" y="457200"/>
            <a:ext cx="8686800" cy="136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B5B5B5"/>
              </a:buClr>
              <a:buSzPts val="850"/>
              <a:buFont typeface="Fira Mono Medium"/>
              <a:buNone/>
            </a:pPr>
            <a:r>
              <a:rPr lang="en-US" sz="850" b="0" i="0" u="none" strike="noStrike" cap="none">
                <a:solidFill>
                  <a:srgbClr val="B5B5B5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SENTIMENT ENGINE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8"/>
          <p:cNvSpPr/>
          <p:nvPr/>
        </p:nvSpPr>
        <p:spPr>
          <a:xfrm>
            <a:off x="457200" y="652909"/>
            <a:ext cx="8229600" cy="71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>
                <a:srgbClr val="ECECEC"/>
              </a:buClr>
              <a:buSzPts val="2550"/>
              <a:buFont typeface="Exo SemiBold"/>
              <a:buNone/>
            </a:pPr>
            <a:r>
              <a:rPr lang="en-US" sz="2550" b="0" i="0" u="none" strike="noStrike" cap="none">
                <a:solidFill>
                  <a:srgbClr val="ECECEC"/>
                </a:solidFill>
                <a:latin typeface="Exo SemiBold"/>
                <a:ea typeface="Exo SemiBold"/>
                <a:cs typeface="Exo SemiBold"/>
                <a:sym typeface="Exo SemiBold"/>
              </a:rPr>
              <a:t>Language models plus guardrails get the sentiment right</a:t>
            </a:r>
            <a:endParaRPr sz="2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8"/>
          <p:cNvSpPr/>
          <p:nvPr/>
        </p:nvSpPr>
        <p:spPr>
          <a:xfrm>
            <a:off x="457200" y="1548408"/>
            <a:ext cx="2057400" cy="23738"/>
          </a:xfrm>
          <a:prstGeom prst="roundRect">
            <a:avLst>
              <a:gd name="adj" fmla="val 50000"/>
            </a:avLst>
          </a:prstGeom>
          <a:solidFill>
            <a:srgbClr val="9BE1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8"/>
          <p:cNvSpPr/>
          <p:nvPr/>
        </p:nvSpPr>
        <p:spPr>
          <a:xfrm>
            <a:off x="457200" y="1740098"/>
            <a:ext cx="3943350" cy="2946202"/>
          </a:xfrm>
          <a:prstGeom prst="rect">
            <a:avLst/>
          </a:prstGeom>
          <a:solidFill>
            <a:srgbClr val="0E1F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8"/>
          <p:cNvSpPr/>
          <p:nvPr/>
        </p:nvSpPr>
        <p:spPr>
          <a:xfrm>
            <a:off x="723900" y="1968698"/>
            <a:ext cx="34099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850"/>
              <a:buFont typeface="Exo"/>
              <a:buNone/>
            </a:pPr>
            <a:r>
              <a:rPr lang="en-US" sz="185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Language Models</a:t>
            </a:r>
            <a:endParaRPr sz="1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8"/>
          <p:cNvSpPr/>
          <p:nvPr/>
        </p:nvSpPr>
        <p:spPr>
          <a:xfrm>
            <a:off x="723900" y="2390180"/>
            <a:ext cx="3409950" cy="1458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33680" marR="0" lvl="0" indent="-23368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150"/>
              <a:buFont typeface="Exo"/>
              <a:buChar char="•"/>
            </a:pPr>
            <a:r>
              <a:rPr lang="en-US" sz="1150" b="1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News vs social tuning:</a:t>
            </a:r>
            <a:r>
              <a:rPr lang="en-US" sz="115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 Articles lean on FinBERT; tweets lean on Twitter-RoBERTa and VADER for slang phrases ("moon", "shorting hard", "massive beat").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33680" marR="0" lvl="0" indent="-23368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150"/>
              <a:buFont typeface="Exo"/>
              <a:buChar char="•"/>
            </a:pPr>
            <a:r>
              <a:rPr lang="en-US" sz="1150" b="1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Event categorization:</a:t>
            </a:r>
            <a:r>
              <a:rPr lang="en-US" sz="115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 9 categories, including Central Bank Policy, Earnings, Regulatory Risk, Valuation Bubble, Product Launch.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8"/>
          <p:cNvSpPr/>
          <p:nvPr/>
        </p:nvSpPr>
        <p:spPr>
          <a:xfrm>
            <a:off x="4743450" y="1740098"/>
            <a:ext cx="3943350" cy="2946202"/>
          </a:xfrm>
          <a:prstGeom prst="rect">
            <a:avLst/>
          </a:prstGeom>
          <a:solidFill>
            <a:srgbClr val="241B5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8"/>
          <p:cNvSpPr/>
          <p:nvPr/>
        </p:nvSpPr>
        <p:spPr>
          <a:xfrm>
            <a:off x="5010150" y="1968698"/>
            <a:ext cx="34099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Exo"/>
              <a:buNone/>
            </a:pPr>
            <a:r>
              <a:rPr lang="en-US" sz="1850" b="0" i="0" u="none" strike="noStrike" cap="none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Smart Guardrails</a:t>
            </a:r>
            <a:endParaRPr sz="1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8"/>
          <p:cNvSpPr/>
          <p:nvPr/>
        </p:nvSpPr>
        <p:spPr>
          <a:xfrm>
            <a:off x="5010150" y="2390180"/>
            <a:ext cx="3409950" cy="1699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33680" marR="0" lvl="0" indent="-23368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Exo"/>
              <a:buChar char="•"/>
            </a:pPr>
            <a:r>
              <a:rPr lang="en-US" sz="1150" b="1" i="0" u="none" strike="noStrike" cap="none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Negation detection:</a:t>
            </a:r>
            <a:r>
              <a:rPr lang="en-US" sz="1150" b="0" i="0" u="none" strike="noStrike" cap="none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 "shrugged off", "dismissed fears", "downplayed risks" don't get labeled as a crisis.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33680" marR="0" lvl="0" indent="-23368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Exo"/>
              <a:buChar char="•"/>
            </a:pPr>
            <a:r>
              <a:rPr lang="en-US" sz="1150" b="1" i="0" u="none" strike="noStrike" cap="none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No polarity inversion:</a:t>
            </a:r>
            <a:r>
              <a:rPr lang="en-US" sz="1150" b="0" i="0" u="none" strike="noStrike" cap="none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 "bullish on AI" never gets flipped bearish by blunt keyword rules.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33680" marR="0" lvl="0" indent="-23368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Exo"/>
              <a:buChar char="•"/>
            </a:pPr>
            <a:r>
              <a:rPr lang="en-US" sz="1150" b="1" i="0" u="none" strike="noStrike" cap="none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Context verification:</a:t>
            </a:r>
            <a:r>
              <a:rPr lang="en-US" sz="1150" b="0" i="0" u="none" strike="noStrike" cap="none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 Only verified semiconductor, cloud/software, and hardware news can move tech holdings.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8"/>
          <p:cNvSpPr/>
          <p:nvPr/>
        </p:nvSpPr>
        <p:spPr>
          <a:xfrm>
            <a:off x="8864947" y="4843909"/>
            <a:ext cx="279053" cy="14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9D9D9D"/>
              </a:buClr>
              <a:buSzPts val="800"/>
              <a:buFont typeface="Fira Mono"/>
              <a:buNone/>
            </a:pPr>
            <a:r>
              <a:rPr lang="en-US" sz="800" b="0" i="0" u="none" strike="noStrike" cap="none">
                <a:solidFill>
                  <a:srgbClr val="9D9D9D"/>
                </a:solidFill>
                <a:latin typeface="Fira Mono"/>
                <a:ea typeface="Fira Mono"/>
                <a:cs typeface="Fira Mono"/>
                <a:sym typeface="Fira Mono"/>
              </a:rPr>
              <a:t>04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8"/>
          <p:cNvSpPr txBox="1"/>
          <p:nvPr/>
        </p:nvSpPr>
        <p:spPr>
          <a:xfrm>
            <a:off x="7995900" y="4846425"/>
            <a:ext cx="1094700" cy="251700"/>
          </a:xfrm>
          <a:prstGeom prst="rect">
            <a:avLst/>
          </a:prstGeom>
          <a:solidFill>
            <a:srgbClr val="050505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9"/>
          <p:cNvSpPr/>
          <p:nvPr/>
        </p:nvSpPr>
        <p:spPr>
          <a:xfrm>
            <a:off x="457200" y="457200"/>
            <a:ext cx="8229600" cy="71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>
                <a:srgbClr val="ECECEC"/>
              </a:buClr>
              <a:buSzPts val="2550"/>
              <a:buFont typeface="Exo SemiBold"/>
              <a:buNone/>
            </a:pPr>
            <a:r>
              <a:rPr lang="en-US" sz="2550" b="0" i="0" u="none" strike="noStrike" cap="none">
                <a:solidFill>
                  <a:srgbClr val="ECECEC"/>
                </a:solidFill>
                <a:latin typeface="Exo SemiBold"/>
                <a:ea typeface="Exo SemiBold"/>
                <a:cs typeface="Exo SemiBold"/>
                <a:sym typeface="Exo SemiBold"/>
              </a:rPr>
              <a:t>Three real engineering problems, and how they were fixed</a:t>
            </a:r>
            <a:endParaRPr sz="2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9"/>
          <p:cNvSpPr/>
          <p:nvPr/>
        </p:nvSpPr>
        <p:spPr>
          <a:xfrm>
            <a:off x="457200" y="1318171"/>
            <a:ext cx="2590800" cy="3368129"/>
          </a:xfrm>
          <a:prstGeom prst="rect">
            <a:avLst/>
          </a:prstGeom>
          <a:solidFill>
            <a:srgbClr val="0E1F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9"/>
          <p:cNvSpPr/>
          <p:nvPr/>
        </p:nvSpPr>
        <p:spPr>
          <a:xfrm>
            <a:off x="628650" y="1489621"/>
            <a:ext cx="2419350" cy="136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850"/>
              <a:buFont typeface="Fira Mono Medium"/>
              <a:buNone/>
            </a:pPr>
            <a:r>
              <a:rPr lang="en-US" sz="850" b="0" i="0" u="none" strike="noStrike" cap="none">
                <a:solidFill>
                  <a:srgbClr val="D5D5D5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PROBLEM 01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9"/>
          <p:cNvSpPr/>
          <p:nvPr/>
        </p:nvSpPr>
        <p:spPr>
          <a:xfrm>
            <a:off x="628650" y="1685330"/>
            <a:ext cx="2247900" cy="445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900"/>
              <a:buFont typeface="Michroma"/>
              <a:buNone/>
            </a:pPr>
            <a:r>
              <a:rPr lang="en-US" sz="900" b="0" i="0" u="none" strike="noStrike" cap="none">
                <a:solidFill>
                  <a:srgbClr val="D5D5D5"/>
                </a:solidFill>
                <a:latin typeface="Michroma"/>
                <a:ea typeface="Michroma"/>
                <a:cs typeface="Michroma"/>
                <a:sym typeface="Michroma"/>
              </a:rPr>
              <a:t>FILTERING OUT UNRELATED WEB NOISE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9"/>
          <p:cNvSpPr/>
          <p:nvPr/>
        </p:nvSpPr>
        <p:spPr>
          <a:xfrm>
            <a:off x="628650" y="2238077"/>
            <a:ext cx="2247900" cy="8971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8000"/>
              </a:lnSpc>
              <a:spcBef>
                <a:spcPts val="650"/>
              </a:spcBef>
              <a:spcAft>
                <a:spcPts val="0"/>
              </a:spcAft>
              <a:buClr>
                <a:srgbClr val="D5D5D5"/>
              </a:buClr>
              <a:buSzPts val="1150"/>
              <a:buFont typeface="Exo"/>
              <a:buNone/>
            </a:pPr>
            <a:r>
              <a:rPr lang="en-US" sz="115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General web scraping pulled in irrelevant celebrity, gambling, and lifestyle articles.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9"/>
          <p:cNvSpPr/>
          <p:nvPr/>
        </p:nvSpPr>
        <p:spPr>
          <a:xfrm>
            <a:off x="628650" y="3255466"/>
            <a:ext cx="2247900" cy="23738"/>
          </a:xfrm>
          <a:prstGeom prst="roundRect">
            <a:avLst>
              <a:gd name="adj" fmla="val 50000"/>
            </a:avLst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9"/>
          <p:cNvSpPr/>
          <p:nvPr/>
        </p:nvSpPr>
        <p:spPr>
          <a:xfrm>
            <a:off x="628650" y="3399532"/>
            <a:ext cx="2247900" cy="1014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150"/>
              <a:buFont typeface="Exo"/>
              <a:buNone/>
            </a:pPr>
            <a:r>
              <a:rPr lang="en-US" sz="1150" b="1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Fix: </a:t>
            </a:r>
            <a:r>
              <a:rPr lang="en-US" sz="115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Built strict checks —articles must directly touch our 15 portfolio stocks or genuine macro drivers, or they are dropped immediately..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9"/>
          <p:cNvSpPr/>
          <p:nvPr/>
        </p:nvSpPr>
        <p:spPr>
          <a:xfrm>
            <a:off x="3276600" y="1318171"/>
            <a:ext cx="2590800" cy="3368129"/>
          </a:xfrm>
          <a:prstGeom prst="rect">
            <a:avLst/>
          </a:prstGeom>
          <a:solidFill>
            <a:srgbClr val="0E1F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9"/>
          <p:cNvSpPr/>
          <p:nvPr/>
        </p:nvSpPr>
        <p:spPr>
          <a:xfrm>
            <a:off x="3448050" y="1489621"/>
            <a:ext cx="2419350" cy="136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850"/>
              <a:buFont typeface="Fira Mono Medium"/>
              <a:buNone/>
            </a:pPr>
            <a:r>
              <a:rPr lang="en-US" sz="850" b="0" i="0" u="none" strike="noStrike" cap="none">
                <a:solidFill>
                  <a:srgbClr val="D5D5D5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PROBLEM 02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9"/>
          <p:cNvSpPr/>
          <p:nvPr/>
        </p:nvSpPr>
        <p:spPr>
          <a:xfrm>
            <a:off x="3448050" y="1685330"/>
            <a:ext cx="2247900" cy="297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900"/>
              <a:buFont typeface="Michroma"/>
              <a:buNone/>
            </a:pPr>
            <a:r>
              <a:rPr lang="en-US" sz="900" b="0" i="0" u="none" strike="noStrike" cap="none">
                <a:solidFill>
                  <a:srgbClr val="D5D5D5"/>
                </a:solidFill>
                <a:latin typeface="Michroma"/>
                <a:ea typeface="Michroma"/>
                <a:cs typeface="Michroma"/>
                <a:sym typeface="Michroma"/>
              </a:rPr>
              <a:t>WRONG CONTEXT AND SPEAKERS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9"/>
          <p:cNvSpPr/>
          <p:nvPr/>
        </p:nvSpPr>
        <p:spPr>
          <a:xfrm>
            <a:off x="3448050" y="2323802"/>
            <a:ext cx="2247900" cy="608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150"/>
              <a:buFont typeface="Exo"/>
              <a:buNone/>
            </a:pPr>
            <a:r>
              <a:rPr lang="en-US" sz="115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"Ferrari's chairman is bullish on AI" gave Microsoft and Apple a -0.20 Slightly Bearish score.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9"/>
          <p:cNvSpPr/>
          <p:nvPr/>
        </p:nvSpPr>
        <p:spPr>
          <a:xfrm>
            <a:off x="3448050" y="3052614"/>
            <a:ext cx="2247900" cy="23738"/>
          </a:xfrm>
          <a:prstGeom prst="roundRect">
            <a:avLst>
              <a:gd name="adj" fmla="val 50000"/>
            </a:avLst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9"/>
          <p:cNvSpPr/>
          <p:nvPr/>
        </p:nvSpPr>
        <p:spPr>
          <a:xfrm>
            <a:off x="3448050" y="3196679"/>
            <a:ext cx="2247900" cy="405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150"/>
              <a:buFont typeface="Exo"/>
              <a:buNone/>
            </a:pPr>
            <a:r>
              <a:rPr lang="en-US" sz="1150" b="1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Fix:</a:t>
            </a:r>
            <a:r>
              <a:rPr lang="en-US" sz="115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 Negation checks and tech-sector context requirements.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9"/>
          <p:cNvSpPr/>
          <p:nvPr/>
        </p:nvSpPr>
        <p:spPr>
          <a:xfrm>
            <a:off x="6096000" y="1318171"/>
            <a:ext cx="2590800" cy="3368129"/>
          </a:xfrm>
          <a:prstGeom prst="rect">
            <a:avLst/>
          </a:prstGeom>
          <a:solidFill>
            <a:srgbClr val="0E1F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9"/>
          <p:cNvSpPr/>
          <p:nvPr/>
        </p:nvSpPr>
        <p:spPr>
          <a:xfrm>
            <a:off x="6267450" y="1489621"/>
            <a:ext cx="2419350" cy="136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850"/>
              <a:buFont typeface="Fira Mono Medium"/>
              <a:buNone/>
            </a:pPr>
            <a:r>
              <a:rPr lang="en-US" sz="850" b="0" i="0" u="none" strike="noStrike" cap="none">
                <a:solidFill>
                  <a:srgbClr val="D5D5D5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PROBLEM 03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9"/>
          <p:cNvSpPr/>
          <p:nvPr/>
        </p:nvSpPr>
        <p:spPr>
          <a:xfrm>
            <a:off x="6267450" y="1685330"/>
            <a:ext cx="2247900" cy="148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900"/>
              <a:buFont typeface="Michroma"/>
              <a:buNone/>
            </a:pPr>
            <a:r>
              <a:rPr lang="en-US" sz="900" b="0" i="0" u="none" strike="noStrike" cap="none">
                <a:solidFill>
                  <a:srgbClr val="D5D5D5"/>
                </a:solidFill>
                <a:latin typeface="Michroma"/>
                <a:ea typeface="Michroma"/>
                <a:cs typeface="Michroma"/>
                <a:sym typeface="Michroma"/>
              </a:rPr>
              <a:t>INFERENCE SPEED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9"/>
          <p:cNvSpPr/>
          <p:nvPr/>
        </p:nvSpPr>
        <p:spPr>
          <a:xfrm>
            <a:off x="6267450" y="1941016"/>
            <a:ext cx="2247900" cy="982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8000"/>
              </a:lnSpc>
              <a:spcBef>
                <a:spcPts val="650"/>
              </a:spcBef>
              <a:spcAft>
                <a:spcPts val="0"/>
              </a:spcAft>
              <a:buClr>
                <a:srgbClr val="D5D5D5"/>
              </a:buClr>
              <a:buSzPts val="1150"/>
              <a:buFont typeface="Exo"/>
              <a:buNone/>
            </a:pPr>
            <a:r>
              <a:rPr lang="en-US" sz="115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BART on 30 raw candidate articles took nearly 90 seconds.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9"/>
          <p:cNvSpPr/>
          <p:nvPr/>
        </p:nvSpPr>
        <p:spPr>
          <a:xfrm>
            <a:off x="6267450" y="3044130"/>
            <a:ext cx="2247900" cy="23738"/>
          </a:xfrm>
          <a:prstGeom prst="roundRect">
            <a:avLst>
              <a:gd name="adj" fmla="val 50000"/>
            </a:avLst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9"/>
          <p:cNvSpPr/>
          <p:nvPr/>
        </p:nvSpPr>
        <p:spPr>
          <a:xfrm>
            <a:off x="6267450" y="3188196"/>
            <a:ext cx="2247900" cy="1014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150"/>
              <a:buFont typeface="Exo"/>
              <a:buNone/>
            </a:pPr>
            <a:r>
              <a:rPr lang="en-US" sz="1150" b="1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Fix:</a:t>
            </a:r>
            <a:r>
              <a:rPr lang="en-US" sz="115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 Regex and keyword pre-screening drops irrelevant articles in under 20 milliseconds, so transformers run only on confirmed portfolio news.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9"/>
          <p:cNvSpPr txBox="1"/>
          <p:nvPr/>
        </p:nvSpPr>
        <p:spPr>
          <a:xfrm>
            <a:off x="7995900" y="4846425"/>
            <a:ext cx="1094700" cy="251700"/>
          </a:xfrm>
          <a:prstGeom prst="rect">
            <a:avLst/>
          </a:prstGeom>
          <a:solidFill>
            <a:srgbClr val="050505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"/>
          <p:cNvSpPr/>
          <p:nvPr/>
        </p:nvSpPr>
        <p:spPr>
          <a:xfrm>
            <a:off x="457200" y="457200"/>
            <a:ext cx="8686800" cy="136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B5B5B5"/>
              </a:buClr>
              <a:buSzPts val="850"/>
              <a:buFont typeface="Fira Mono Medium"/>
              <a:buNone/>
            </a:pPr>
            <a:r>
              <a:rPr lang="en-US" sz="850" b="0" i="0" u="none" strike="noStrike" cap="none">
                <a:solidFill>
                  <a:srgbClr val="B5B5B5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EXECUTION &amp; MONITORING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0"/>
          <p:cNvSpPr/>
          <p:nvPr/>
        </p:nvSpPr>
        <p:spPr>
          <a:xfrm>
            <a:off x="457200" y="652909"/>
            <a:ext cx="8229600" cy="356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>
                <a:srgbClr val="ECECEC"/>
              </a:buClr>
              <a:buSzPts val="2550"/>
              <a:buFont typeface="Exo SemiBold"/>
              <a:buNone/>
            </a:pPr>
            <a:r>
              <a:rPr lang="en-US" sz="2550" b="0" i="0" u="none" strike="noStrike" cap="none">
                <a:solidFill>
                  <a:srgbClr val="ECECEC"/>
                </a:solidFill>
                <a:latin typeface="Exo SemiBold"/>
                <a:ea typeface="Exo SemiBold"/>
                <a:cs typeface="Exo SemiBold"/>
                <a:sym typeface="Exo SemiBold"/>
              </a:rPr>
              <a:t>The rebalancing math and the live dashboard</a:t>
            </a:r>
            <a:endParaRPr sz="2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0"/>
          <p:cNvSpPr/>
          <p:nvPr/>
        </p:nvSpPr>
        <p:spPr>
          <a:xfrm>
            <a:off x="457200" y="1191741"/>
            <a:ext cx="2057400" cy="23738"/>
          </a:xfrm>
          <a:prstGeom prst="roundRect">
            <a:avLst>
              <a:gd name="adj" fmla="val 50000"/>
            </a:avLst>
          </a:prstGeom>
          <a:solidFill>
            <a:srgbClr val="9BE1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0"/>
          <p:cNvSpPr/>
          <p:nvPr/>
        </p:nvSpPr>
        <p:spPr>
          <a:xfrm>
            <a:off x="457200" y="1383432"/>
            <a:ext cx="3943350" cy="3302868"/>
          </a:xfrm>
          <a:prstGeom prst="rect">
            <a:avLst/>
          </a:prstGeom>
          <a:solidFill>
            <a:srgbClr val="0E1F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0"/>
          <p:cNvSpPr/>
          <p:nvPr/>
        </p:nvSpPr>
        <p:spPr>
          <a:xfrm>
            <a:off x="685800" y="1592982"/>
            <a:ext cx="34861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850"/>
              <a:buFont typeface="Exo"/>
              <a:buNone/>
            </a:pPr>
            <a:r>
              <a:rPr lang="en-US" sz="185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How the math works</a:t>
            </a:r>
            <a:endParaRPr sz="1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0"/>
          <p:cNvSpPr/>
          <p:nvPr/>
        </p:nvSpPr>
        <p:spPr>
          <a:xfrm>
            <a:off x="685800" y="2014463"/>
            <a:ext cx="3486150" cy="405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33680" marR="0" lvl="0" indent="-23368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150"/>
              <a:buFont typeface="Exo"/>
              <a:buChar char="•"/>
            </a:pPr>
            <a:r>
              <a:rPr lang="en-US" sz="115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Each signal's adjustment delta = sentiment score × impact score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0"/>
          <p:cNvSpPr/>
          <p:nvPr/>
        </p:nvSpPr>
        <p:spPr>
          <a:xfrm>
            <a:off x="685800" y="2729880"/>
            <a:ext cx="3486150" cy="405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33680" marR="0" lvl="0" indent="-23368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150"/>
              <a:buFont typeface="Exo"/>
              <a:buChar char="•"/>
            </a:pPr>
            <a:r>
              <a:rPr lang="en-US" sz="115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Every stock stays above a 2% minimum weight to keep diversification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0"/>
          <p:cNvSpPr/>
          <p:nvPr/>
        </p:nvSpPr>
        <p:spPr>
          <a:xfrm>
            <a:off x="685800" y="3445297"/>
            <a:ext cx="3486150" cy="405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33680" marR="0" lvl="0" indent="-23368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150"/>
              <a:buFont typeface="Exo"/>
              <a:buChar char="•"/>
            </a:pPr>
            <a:r>
              <a:rPr lang="en-US" sz="115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All 15 weights are divided by their sum, so the portfolio always equals exactly 100%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0"/>
          <p:cNvSpPr/>
          <p:nvPr/>
        </p:nvSpPr>
        <p:spPr>
          <a:xfrm>
            <a:off x="4972050" y="1592982"/>
            <a:ext cx="34861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850"/>
              <a:buFont typeface="Exo"/>
              <a:buNone/>
            </a:pPr>
            <a:r>
              <a:rPr lang="en-US" sz="185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What the user sees in Streamlit</a:t>
            </a:r>
            <a:endParaRPr sz="1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0"/>
          <p:cNvSpPr/>
          <p:nvPr/>
        </p:nvSpPr>
        <p:spPr>
          <a:xfrm>
            <a:off x="4972050" y="2014463"/>
            <a:ext cx="3486150" cy="1901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33680" marR="0" lvl="0" indent="-23368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150"/>
              <a:buFont typeface="Exo"/>
              <a:buChar char="•"/>
            </a:pPr>
            <a:r>
              <a:rPr lang="en-US" sz="1150" b="1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Top metrics:</a:t>
            </a:r>
            <a:r>
              <a:rPr lang="en-US" sz="115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 Stocks in the index, signals processed, rebalance cycles run, bullish signals detected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33680" marR="0" lvl="0" indent="-23368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150"/>
              <a:buFont typeface="Exo"/>
              <a:buChar char="•"/>
            </a:pPr>
            <a:r>
              <a:rPr lang="en-US" sz="1150" b="1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Visual analytics:</a:t>
            </a:r>
            <a:r>
              <a:rPr lang="en-US" sz="115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 Plotly donut chart of current weights, historical candlestick charts, cycle-by-cycle weight history tables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33680" marR="0" lvl="0" indent="-23368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150"/>
              <a:buFont typeface="Exo"/>
              <a:buChar char="•"/>
            </a:pPr>
            <a:r>
              <a:rPr lang="en-US" sz="1150" b="1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Signal inspector:</a:t>
            </a:r>
            <a:r>
              <a:rPr lang="en-US" sz="115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 Expandable cards with the news snippet, event type, impact score, trajectory badge (Bullish or Bearish), per-ticker breakdown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0"/>
          <p:cNvSpPr/>
          <p:nvPr/>
        </p:nvSpPr>
        <p:spPr>
          <a:xfrm>
            <a:off x="8864947" y="4843909"/>
            <a:ext cx="279053" cy="14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9D9D9D"/>
              </a:buClr>
              <a:buSzPts val="800"/>
              <a:buFont typeface="Fira Mono"/>
              <a:buNone/>
            </a:pPr>
            <a:r>
              <a:rPr lang="en-US" sz="800" b="0" i="0" u="none" strike="noStrike" cap="none">
                <a:solidFill>
                  <a:srgbClr val="9D9D9D"/>
                </a:solidFill>
                <a:latin typeface="Fira Mono"/>
                <a:ea typeface="Fira Mono"/>
                <a:cs typeface="Fira Mono"/>
                <a:sym typeface="Fira Mono"/>
              </a:rPr>
              <a:t>06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0"/>
          <p:cNvSpPr txBox="1"/>
          <p:nvPr/>
        </p:nvSpPr>
        <p:spPr>
          <a:xfrm>
            <a:off x="7995900" y="4846425"/>
            <a:ext cx="1094700" cy="251700"/>
          </a:xfrm>
          <a:prstGeom prst="rect">
            <a:avLst/>
          </a:prstGeom>
          <a:solidFill>
            <a:srgbClr val="050505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1"/>
          <p:cNvSpPr/>
          <p:nvPr/>
        </p:nvSpPr>
        <p:spPr>
          <a:xfrm>
            <a:off x="457200" y="285750"/>
            <a:ext cx="5334000" cy="136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B5B5B5"/>
              </a:buClr>
              <a:buSzPts val="850"/>
              <a:buFont typeface="Fira Mono Medium"/>
              <a:buNone/>
            </a:pPr>
            <a:r>
              <a:rPr lang="en-US" sz="850" b="0" i="0" u="none" strike="noStrike" cap="none">
                <a:solidFill>
                  <a:srgbClr val="B5B5B5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OUTCOMES &amp; ROADMAP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1"/>
          <p:cNvSpPr/>
          <p:nvPr/>
        </p:nvSpPr>
        <p:spPr>
          <a:xfrm>
            <a:off x="457200" y="481459"/>
            <a:ext cx="4933950" cy="356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>
                <a:srgbClr val="ECECEC"/>
              </a:buClr>
              <a:buSzPts val="2550"/>
              <a:buFont typeface="Exo SemiBold"/>
              <a:buNone/>
            </a:pPr>
            <a:r>
              <a:rPr lang="en-US" sz="2550" b="0" i="0" u="none" strike="noStrike" cap="none">
                <a:solidFill>
                  <a:srgbClr val="ECECEC"/>
                </a:solidFill>
                <a:latin typeface="Exo SemiBold"/>
                <a:ea typeface="Exo SemiBold"/>
                <a:cs typeface="Exo SemiBold"/>
                <a:sym typeface="Exo SemiBold"/>
              </a:rPr>
              <a:t>Results and what's next</a:t>
            </a:r>
            <a:endParaRPr sz="2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1"/>
          <p:cNvSpPr/>
          <p:nvPr/>
        </p:nvSpPr>
        <p:spPr>
          <a:xfrm>
            <a:off x="457200" y="1020291"/>
            <a:ext cx="1233488" cy="23738"/>
          </a:xfrm>
          <a:prstGeom prst="roundRect">
            <a:avLst>
              <a:gd name="adj" fmla="val 50000"/>
            </a:avLst>
          </a:prstGeom>
          <a:solidFill>
            <a:srgbClr val="9BE1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11"/>
          <p:cNvSpPr/>
          <p:nvPr/>
        </p:nvSpPr>
        <p:spPr>
          <a:xfrm>
            <a:off x="457200" y="1211982"/>
            <a:ext cx="4933950" cy="148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900"/>
              <a:buFont typeface="Michroma"/>
              <a:buNone/>
            </a:pPr>
            <a:r>
              <a:rPr lang="en-US" sz="900" b="0" i="0" u="none" strike="noStrike" cap="none">
                <a:solidFill>
                  <a:srgbClr val="D5D5D5"/>
                </a:solidFill>
                <a:latin typeface="Michroma"/>
                <a:ea typeface="Michroma"/>
                <a:cs typeface="Michroma"/>
                <a:sym typeface="Michroma"/>
              </a:rPr>
              <a:t>KEY RESULTS -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1"/>
          <p:cNvSpPr/>
          <p:nvPr/>
        </p:nvSpPr>
        <p:spPr>
          <a:xfrm>
            <a:off x="457200" y="1446237"/>
            <a:ext cx="4933950" cy="1084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1000"/>
              <a:buFont typeface="Exo"/>
              <a:buNone/>
            </a:pPr>
            <a:r>
              <a:rPr lang="en-US" sz="1000" b="1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1) Minimal noise:</a:t>
            </a:r>
            <a:r>
              <a:rPr lang="en-US" sz="100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 Only reputable financial news that directly or indirectly affects the 15 stocks gets through.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8000"/>
              </a:lnSpc>
              <a:spcBef>
                <a:spcPts val="650"/>
              </a:spcBef>
              <a:spcAft>
                <a:spcPts val="0"/>
              </a:spcAft>
              <a:buClr>
                <a:srgbClr val="D5D5D5"/>
              </a:buClr>
              <a:buSzPts val="1000"/>
              <a:buFont typeface="Exo"/>
              <a:buNone/>
            </a:pPr>
            <a:r>
              <a:rPr lang="en-US" sz="1000" b="1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2) Reliable logic:</a:t>
            </a:r>
            <a:r>
              <a:rPr lang="en-US" sz="100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 Clear split between genuine risk events and dismissed fears.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8000"/>
              </a:lnSpc>
              <a:spcBef>
                <a:spcPts val="650"/>
              </a:spcBef>
              <a:spcAft>
                <a:spcPts val="0"/>
              </a:spcAft>
              <a:buClr>
                <a:srgbClr val="D5D5D5"/>
              </a:buClr>
              <a:buSzPts val="1000"/>
              <a:buFont typeface="Exo"/>
              <a:buNone/>
            </a:pPr>
            <a:r>
              <a:rPr lang="en-US" sz="1000" b="1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3) Significantly fast:</a:t>
            </a:r>
            <a:r>
              <a:rPr lang="en-US" sz="1000" b="0" i="0" u="none" strike="noStrike" cap="none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 A full 10-signal batch ingests and rebalances in a few seconds (or a few minutes , depending on the system configuration)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1"/>
          <p:cNvSpPr/>
          <p:nvPr/>
        </p:nvSpPr>
        <p:spPr>
          <a:xfrm>
            <a:off x="457200" y="2928863"/>
            <a:ext cx="4933950" cy="148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5D5D5"/>
              </a:buClr>
              <a:buSzPts val="900"/>
              <a:buFont typeface="Michroma"/>
              <a:buNone/>
            </a:pPr>
            <a:r>
              <a:rPr lang="en-US" sz="900" b="0" i="0" u="none" strike="noStrike" cap="none">
                <a:solidFill>
                  <a:srgbClr val="D5D5D5"/>
                </a:solidFill>
                <a:latin typeface="Michroma"/>
                <a:ea typeface="Michroma"/>
                <a:cs typeface="Michroma"/>
                <a:sym typeface="Michroma"/>
              </a:rPr>
              <a:t>NEXT STEPS -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1"/>
          <p:cNvSpPr/>
          <p:nvPr/>
        </p:nvSpPr>
        <p:spPr>
          <a:xfrm>
            <a:off x="457200" y="3163119"/>
            <a:ext cx="4933950" cy="1449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18000"/>
              </a:lnSpc>
              <a:buClr>
                <a:srgbClr val="D5D5D5"/>
              </a:buClr>
              <a:buSzPts val="1000"/>
            </a:pPr>
            <a:r>
              <a:rPr lang="en-US" sz="1000" b="0" i="0" u="none" strike="noStrike" cap="none" dirty="0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1) </a:t>
            </a:r>
            <a:r>
              <a:rPr lang="en-US" sz="1000" dirty="0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Fully automate formal news and social text feed ingestion into the pipeline</a:t>
            </a:r>
            <a:endParaRPr lang="en-US" sz="1000" b="0" i="0" u="none" strike="noStrike" cap="none" dirty="0">
              <a:solidFill>
                <a:srgbClr val="D5D5D5"/>
              </a:solidFill>
              <a:latin typeface="Exo"/>
              <a:ea typeface="Exo"/>
              <a:cs typeface="Exo"/>
              <a:sym typeface="Exo"/>
            </a:endParaRPr>
          </a:p>
          <a:p>
            <a:pPr marL="0" marR="0" lvl="0" indent="0" algn="l" rtl="0">
              <a:lnSpc>
                <a:spcPct val="118000"/>
              </a:lnSpc>
              <a:spcBef>
                <a:spcPts val="650"/>
              </a:spcBef>
              <a:spcAft>
                <a:spcPts val="0"/>
              </a:spcAft>
              <a:buClr>
                <a:srgbClr val="D5D5D5"/>
              </a:buClr>
              <a:buSzPts val="1000"/>
              <a:buFont typeface="Exo"/>
              <a:buNone/>
            </a:pPr>
            <a:r>
              <a:rPr lang="en-US" sz="1000" b="0" i="0" u="none" strike="noStrike" cap="none" dirty="0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2) Enhance model reasoning so that it can better understand indirect impact of things on stock prices (e.g. how a raw material bottleneck affects downstream chipmakers)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lnSpc>
                <a:spcPct val="118000"/>
              </a:lnSpc>
              <a:spcBef>
                <a:spcPts val="650"/>
              </a:spcBef>
              <a:buClr>
                <a:srgbClr val="D5D5D5"/>
              </a:buClr>
              <a:buSzPts val="1000"/>
            </a:pPr>
            <a:r>
              <a:rPr lang="en-US" sz="1000" b="0" i="0" u="none" strike="noStrike" cap="none" dirty="0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3)</a:t>
            </a:r>
            <a:r>
              <a:rPr lang="en-US" sz="1000" dirty="0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 Add modularity so that stocks can be easily  added or removed using the dashboard itself</a:t>
            </a:r>
          </a:p>
          <a:p>
            <a:pPr marL="0" marR="0" lvl="0" indent="0" algn="l" rtl="0">
              <a:lnSpc>
                <a:spcPct val="118000"/>
              </a:lnSpc>
              <a:spcBef>
                <a:spcPts val="650"/>
              </a:spcBef>
              <a:spcAft>
                <a:spcPts val="0"/>
              </a:spcAft>
              <a:buClr>
                <a:srgbClr val="D5D5D5"/>
              </a:buClr>
              <a:buSzPts val="1000"/>
              <a:buFont typeface="Exo"/>
              <a:buNone/>
            </a:pPr>
            <a:r>
              <a:rPr lang="en-US" sz="1000" b="0" i="0" u="none" strike="noStrike" cap="none" dirty="0">
                <a:solidFill>
                  <a:srgbClr val="D5D5D5"/>
                </a:solidFill>
                <a:latin typeface="Exo"/>
                <a:ea typeface="Exo"/>
                <a:cs typeface="Exo"/>
                <a:sym typeface="Exo"/>
              </a:rPr>
              <a:t>4) Test rebalancing signals on historical data to optimize to optimize risk-adjusted returns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1"/>
          <p:cNvSpPr/>
          <p:nvPr/>
        </p:nvSpPr>
        <p:spPr>
          <a:xfrm>
            <a:off x="457200" y="4857751"/>
            <a:ext cx="4933950" cy="210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620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9D9D9D"/>
              </a:buClr>
              <a:buSzPts val="850"/>
              <a:buFont typeface="Fira Mono Medium"/>
              <a:buNone/>
            </a:pPr>
            <a:r>
              <a:rPr lang="en-US" sz="850" b="0" i="0" u="none" strike="noStrike" cap="none" dirty="0">
                <a:solidFill>
                  <a:srgbClr val="9D9D9D"/>
                </a:solidFill>
                <a:latin typeface="Fira Mono Medium"/>
                <a:ea typeface="Fira Mono Medium"/>
                <a:cs typeface="Fira Mono Medium"/>
                <a:sym typeface="Fira Mono Medium"/>
              </a:rPr>
              <a:t>                               THANK YOU ! </a:t>
            </a:r>
            <a:endParaRPr sz="8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1" name="Google Shape;171;p1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91200" y="0"/>
            <a:ext cx="33528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1"/>
          <p:cNvSpPr/>
          <p:nvPr/>
        </p:nvSpPr>
        <p:spPr>
          <a:xfrm>
            <a:off x="457200" y="2658963"/>
            <a:ext cx="4933950" cy="9525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934</Words>
  <Application>Microsoft Office PowerPoint</Application>
  <PresentationFormat>On-screen Show (16:9)</PresentationFormat>
  <Paragraphs>108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7" baseType="lpstr">
      <vt:lpstr>Fira Mono</vt:lpstr>
      <vt:lpstr>Courier New</vt:lpstr>
      <vt:lpstr>Michroma</vt:lpstr>
      <vt:lpstr>Fira Mono Medium</vt:lpstr>
      <vt:lpstr>Exo SemiBold</vt:lpstr>
      <vt:lpstr>Oswald</vt:lpstr>
      <vt:lpstr>Arial</vt:lpstr>
      <vt:lpstr>Calibri</vt:lpstr>
      <vt:lpstr>Exo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Ayush Pattanaik</cp:lastModifiedBy>
  <cp:revision>2</cp:revision>
  <dcterms:modified xsi:type="dcterms:W3CDTF">2026-10-11T12:28:57Z</dcterms:modified>
</cp:coreProperties>
</file>